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1" r:id="rId7"/>
    <p:sldId id="262" r:id="rId8"/>
    <p:sldId id="26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3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9CCDA2-FFE9-45FA-B55F-E3DECFE8E54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02A3E6-EA02-4A30-AE37-250E11178670}">
      <dgm:prSet/>
      <dgm:spPr/>
      <dgm:t>
        <a:bodyPr/>
        <a:lstStyle/>
        <a:p>
          <a:r>
            <a:rPr lang="en-US" dirty="0"/>
            <a:t>DS, PS2 and PS3 have the highest share in Japan, showing Japanese players prefer portable devices and PlayStation series.</a:t>
          </a:r>
        </a:p>
      </dgm:t>
    </dgm:pt>
    <dgm:pt modelId="{75197150-CB01-4795-998D-046092255409}" type="parTrans" cxnId="{4B4FC677-ADEE-4363-ADDB-E6A04EC4249D}">
      <dgm:prSet/>
      <dgm:spPr/>
      <dgm:t>
        <a:bodyPr/>
        <a:lstStyle/>
        <a:p>
          <a:endParaRPr lang="en-US"/>
        </a:p>
      </dgm:t>
    </dgm:pt>
    <dgm:pt modelId="{E664ED8A-AB92-4041-9B42-E46BE49D2EBA}" type="sibTrans" cxnId="{4B4FC677-ADEE-4363-ADDB-E6A04EC4249D}">
      <dgm:prSet/>
      <dgm:spPr/>
      <dgm:t>
        <a:bodyPr/>
        <a:lstStyle/>
        <a:p>
          <a:endParaRPr lang="en-US"/>
        </a:p>
      </dgm:t>
    </dgm:pt>
    <dgm:pt modelId="{3BA45C2E-C64F-471B-9733-1E8CA4B1EF7B}">
      <dgm:prSet/>
      <dgm:spPr/>
      <dgm:t>
        <a:bodyPr/>
        <a:lstStyle/>
        <a:p>
          <a:r>
            <a:rPr lang="en-US" dirty="0"/>
            <a:t>Traditional consoles (SNES and NES) only have a high market share in Japan, shows that Japanese players are more nostalgic and stick to traditional gameplay.</a:t>
          </a:r>
        </a:p>
      </dgm:t>
    </dgm:pt>
    <dgm:pt modelId="{DA7B4794-66FE-4128-B5A9-CCA08D0F8963}" type="parTrans" cxnId="{59C794D6-55F3-42CB-B4D5-EBF6D855ACA2}">
      <dgm:prSet/>
      <dgm:spPr/>
      <dgm:t>
        <a:bodyPr/>
        <a:lstStyle/>
        <a:p>
          <a:endParaRPr lang="en-US"/>
        </a:p>
      </dgm:t>
    </dgm:pt>
    <dgm:pt modelId="{8DD6A166-EB07-4ADF-93D6-C1470AB8B807}" type="sibTrans" cxnId="{59C794D6-55F3-42CB-B4D5-EBF6D855ACA2}">
      <dgm:prSet/>
      <dgm:spPr/>
      <dgm:t>
        <a:bodyPr/>
        <a:lstStyle/>
        <a:p>
          <a:endParaRPr lang="en-US"/>
        </a:p>
      </dgm:t>
    </dgm:pt>
    <dgm:pt modelId="{3EACA790-A40F-4C27-88B2-A0FC0A5E92D6}">
      <dgm:prSet/>
      <dgm:spPr/>
      <dgm:t>
        <a:bodyPr/>
        <a:lstStyle/>
        <a:p>
          <a:r>
            <a:rPr lang="en-US" dirty="0"/>
            <a:t>Home consoles (Wii, X360) have higher market share in Western world, showing that they tend to play games at home</a:t>
          </a:r>
        </a:p>
      </dgm:t>
    </dgm:pt>
    <dgm:pt modelId="{8AD4886D-764F-4BAD-A6A5-7A5CB06975D1}" type="parTrans" cxnId="{62F077F5-AD0F-426E-8FFD-5052E3390E24}">
      <dgm:prSet/>
      <dgm:spPr/>
      <dgm:t>
        <a:bodyPr/>
        <a:lstStyle/>
        <a:p>
          <a:endParaRPr lang="en-US"/>
        </a:p>
      </dgm:t>
    </dgm:pt>
    <dgm:pt modelId="{F26476FA-EC41-4E53-9FC7-ADA6AB7628A6}" type="sibTrans" cxnId="{62F077F5-AD0F-426E-8FFD-5052E3390E24}">
      <dgm:prSet/>
      <dgm:spPr/>
      <dgm:t>
        <a:bodyPr/>
        <a:lstStyle/>
        <a:p>
          <a:endParaRPr lang="en-US"/>
        </a:p>
      </dgm:t>
    </dgm:pt>
    <dgm:pt modelId="{162E76FA-A20E-4861-87DE-11C597EA4C2B}" type="pres">
      <dgm:prSet presAssocID="{5E9CCDA2-FFE9-45FA-B55F-E3DECFE8E544}" presName="outerComposite" presStyleCnt="0">
        <dgm:presLayoutVars>
          <dgm:chMax val="5"/>
          <dgm:dir/>
          <dgm:resizeHandles val="exact"/>
        </dgm:presLayoutVars>
      </dgm:prSet>
      <dgm:spPr/>
    </dgm:pt>
    <dgm:pt modelId="{811A4B61-8D54-4048-8314-65C5A7026CA2}" type="pres">
      <dgm:prSet presAssocID="{5E9CCDA2-FFE9-45FA-B55F-E3DECFE8E544}" presName="dummyMaxCanvas" presStyleCnt="0">
        <dgm:presLayoutVars/>
      </dgm:prSet>
      <dgm:spPr/>
    </dgm:pt>
    <dgm:pt modelId="{6434229F-C64B-4A7F-96F8-E28E1883C376}" type="pres">
      <dgm:prSet presAssocID="{5E9CCDA2-FFE9-45FA-B55F-E3DECFE8E544}" presName="ThreeNodes_1" presStyleLbl="node1" presStyleIdx="0" presStyleCnt="3" custLinFactNeighborX="-128" custLinFactNeighborY="7121">
        <dgm:presLayoutVars>
          <dgm:bulletEnabled val="1"/>
        </dgm:presLayoutVars>
      </dgm:prSet>
      <dgm:spPr/>
    </dgm:pt>
    <dgm:pt modelId="{2001ED84-0D4C-49CC-B0F8-96E3CA9137B7}" type="pres">
      <dgm:prSet presAssocID="{5E9CCDA2-FFE9-45FA-B55F-E3DECFE8E544}" presName="ThreeNodes_2" presStyleLbl="node1" presStyleIdx="1" presStyleCnt="3">
        <dgm:presLayoutVars>
          <dgm:bulletEnabled val="1"/>
        </dgm:presLayoutVars>
      </dgm:prSet>
      <dgm:spPr/>
    </dgm:pt>
    <dgm:pt modelId="{C80FD6A5-731E-4EC9-86FA-763FE1ED6B68}" type="pres">
      <dgm:prSet presAssocID="{5E9CCDA2-FFE9-45FA-B55F-E3DECFE8E544}" presName="ThreeNodes_3" presStyleLbl="node1" presStyleIdx="2" presStyleCnt="3">
        <dgm:presLayoutVars>
          <dgm:bulletEnabled val="1"/>
        </dgm:presLayoutVars>
      </dgm:prSet>
      <dgm:spPr/>
    </dgm:pt>
    <dgm:pt modelId="{795677FB-1E0E-4AB3-9733-DD3E0DDAB7FE}" type="pres">
      <dgm:prSet presAssocID="{5E9CCDA2-FFE9-45FA-B55F-E3DECFE8E544}" presName="ThreeConn_1-2" presStyleLbl="fgAccFollowNode1" presStyleIdx="0" presStyleCnt="2">
        <dgm:presLayoutVars>
          <dgm:bulletEnabled val="1"/>
        </dgm:presLayoutVars>
      </dgm:prSet>
      <dgm:spPr/>
    </dgm:pt>
    <dgm:pt modelId="{9102A301-95B5-4F20-BDF8-A1E5A027A158}" type="pres">
      <dgm:prSet presAssocID="{5E9CCDA2-FFE9-45FA-B55F-E3DECFE8E544}" presName="ThreeConn_2-3" presStyleLbl="fgAccFollowNode1" presStyleIdx="1" presStyleCnt="2">
        <dgm:presLayoutVars>
          <dgm:bulletEnabled val="1"/>
        </dgm:presLayoutVars>
      </dgm:prSet>
      <dgm:spPr/>
    </dgm:pt>
    <dgm:pt modelId="{1BF84F5A-7F9B-41D7-978D-95A6A95C32E9}" type="pres">
      <dgm:prSet presAssocID="{5E9CCDA2-FFE9-45FA-B55F-E3DECFE8E544}" presName="ThreeNodes_1_text" presStyleLbl="node1" presStyleIdx="2" presStyleCnt="3">
        <dgm:presLayoutVars>
          <dgm:bulletEnabled val="1"/>
        </dgm:presLayoutVars>
      </dgm:prSet>
      <dgm:spPr/>
    </dgm:pt>
    <dgm:pt modelId="{5E98D388-AAEC-4D2B-9681-384B3C24F065}" type="pres">
      <dgm:prSet presAssocID="{5E9CCDA2-FFE9-45FA-B55F-E3DECFE8E544}" presName="ThreeNodes_2_text" presStyleLbl="node1" presStyleIdx="2" presStyleCnt="3">
        <dgm:presLayoutVars>
          <dgm:bulletEnabled val="1"/>
        </dgm:presLayoutVars>
      </dgm:prSet>
      <dgm:spPr/>
    </dgm:pt>
    <dgm:pt modelId="{D50E3618-5008-4EE3-B145-9364BBF9579C}" type="pres">
      <dgm:prSet presAssocID="{5E9CCDA2-FFE9-45FA-B55F-E3DECFE8E54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C318407-BCA3-4556-A5F9-E56D102264B3}" type="presOf" srcId="{8DD6A166-EB07-4ADF-93D6-C1470AB8B807}" destId="{9102A301-95B5-4F20-BDF8-A1E5A027A158}" srcOrd="0" destOrd="0" presId="urn:microsoft.com/office/officeart/2005/8/layout/vProcess5"/>
    <dgm:cxn modelId="{7F08CB2F-6B12-404B-98BF-53C54038C9A8}" type="presOf" srcId="{5302A3E6-EA02-4A30-AE37-250E11178670}" destId="{6434229F-C64B-4A7F-96F8-E28E1883C376}" srcOrd="0" destOrd="0" presId="urn:microsoft.com/office/officeart/2005/8/layout/vProcess5"/>
    <dgm:cxn modelId="{B37E933B-678F-4B14-965F-EDDD4E23052F}" type="presOf" srcId="{3BA45C2E-C64F-471B-9733-1E8CA4B1EF7B}" destId="{2001ED84-0D4C-49CC-B0F8-96E3CA9137B7}" srcOrd="0" destOrd="0" presId="urn:microsoft.com/office/officeart/2005/8/layout/vProcess5"/>
    <dgm:cxn modelId="{1AF5125D-D707-4919-B8E0-A2D2AC675647}" type="presOf" srcId="{5E9CCDA2-FFE9-45FA-B55F-E3DECFE8E544}" destId="{162E76FA-A20E-4861-87DE-11C597EA4C2B}" srcOrd="0" destOrd="0" presId="urn:microsoft.com/office/officeart/2005/8/layout/vProcess5"/>
    <dgm:cxn modelId="{9CC02255-9728-4841-9C7B-89919FE5DB92}" type="presOf" srcId="{5302A3E6-EA02-4A30-AE37-250E11178670}" destId="{1BF84F5A-7F9B-41D7-978D-95A6A95C32E9}" srcOrd="1" destOrd="0" presId="urn:microsoft.com/office/officeart/2005/8/layout/vProcess5"/>
    <dgm:cxn modelId="{4B4FC677-ADEE-4363-ADDB-E6A04EC4249D}" srcId="{5E9CCDA2-FFE9-45FA-B55F-E3DECFE8E544}" destId="{5302A3E6-EA02-4A30-AE37-250E11178670}" srcOrd="0" destOrd="0" parTransId="{75197150-CB01-4795-998D-046092255409}" sibTransId="{E664ED8A-AB92-4041-9B42-E46BE49D2EBA}"/>
    <dgm:cxn modelId="{F41EAF9E-24C6-443F-8E52-96DB36A28A0C}" type="presOf" srcId="{3EACA790-A40F-4C27-88B2-A0FC0A5E92D6}" destId="{D50E3618-5008-4EE3-B145-9364BBF9579C}" srcOrd="1" destOrd="0" presId="urn:microsoft.com/office/officeart/2005/8/layout/vProcess5"/>
    <dgm:cxn modelId="{E498C5D4-06B0-4FF5-872D-EA18639F8ACB}" type="presOf" srcId="{3EACA790-A40F-4C27-88B2-A0FC0A5E92D6}" destId="{C80FD6A5-731E-4EC9-86FA-763FE1ED6B68}" srcOrd="0" destOrd="0" presId="urn:microsoft.com/office/officeart/2005/8/layout/vProcess5"/>
    <dgm:cxn modelId="{59C794D6-55F3-42CB-B4D5-EBF6D855ACA2}" srcId="{5E9CCDA2-FFE9-45FA-B55F-E3DECFE8E544}" destId="{3BA45C2E-C64F-471B-9733-1E8CA4B1EF7B}" srcOrd="1" destOrd="0" parTransId="{DA7B4794-66FE-4128-B5A9-CCA08D0F8963}" sibTransId="{8DD6A166-EB07-4ADF-93D6-C1470AB8B807}"/>
    <dgm:cxn modelId="{0F4005D7-9D0C-46AA-86BE-8FB40EBC0D93}" type="presOf" srcId="{3BA45C2E-C64F-471B-9733-1E8CA4B1EF7B}" destId="{5E98D388-AAEC-4D2B-9681-384B3C24F065}" srcOrd="1" destOrd="0" presId="urn:microsoft.com/office/officeart/2005/8/layout/vProcess5"/>
    <dgm:cxn modelId="{652EA2DE-B0C8-4B78-81C8-A351C32CB3DE}" type="presOf" srcId="{E664ED8A-AB92-4041-9B42-E46BE49D2EBA}" destId="{795677FB-1E0E-4AB3-9733-DD3E0DDAB7FE}" srcOrd="0" destOrd="0" presId="urn:microsoft.com/office/officeart/2005/8/layout/vProcess5"/>
    <dgm:cxn modelId="{62F077F5-AD0F-426E-8FFD-5052E3390E24}" srcId="{5E9CCDA2-FFE9-45FA-B55F-E3DECFE8E544}" destId="{3EACA790-A40F-4C27-88B2-A0FC0A5E92D6}" srcOrd="2" destOrd="0" parTransId="{8AD4886D-764F-4BAD-A6A5-7A5CB06975D1}" sibTransId="{F26476FA-EC41-4E53-9FC7-ADA6AB7628A6}"/>
    <dgm:cxn modelId="{0801B969-BFC9-44D2-AA6B-8BDACC1F7892}" type="presParOf" srcId="{162E76FA-A20E-4861-87DE-11C597EA4C2B}" destId="{811A4B61-8D54-4048-8314-65C5A7026CA2}" srcOrd="0" destOrd="0" presId="urn:microsoft.com/office/officeart/2005/8/layout/vProcess5"/>
    <dgm:cxn modelId="{0B68D183-B588-41DB-889B-A3FD6AB415C7}" type="presParOf" srcId="{162E76FA-A20E-4861-87DE-11C597EA4C2B}" destId="{6434229F-C64B-4A7F-96F8-E28E1883C376}" srcOrd="1" destOrd="0" presId="urn:microsoft.com/office/officeart/2005/8/layout/vProcess5"/>
    <dgm:cxn modelId="{98839ACA-C992-4733-B777-650983D79D2D}" type="presParOf" srcId="{162E76FA-A20E-4861-87DE-11C597EA4C2B}" destId="{2001ED84-0D4C-49CC-B0F8-96E3CA9137B7}" srcOrd="2" destOrd="0" presId="urn:microsoft.com/office/officeart/2005/8/layout/vProcess5"/>
    <dgm:cxn modelId="{CABC9516-A429-4C45-8FFC-C41E0D26274F}" type="presParOf" srcId="{162E76FA-A20E-4861-87DE-11C597EA4C2B}" destId="{C80FD6A5-731E-4EC9-86FA-763FE1ED6B68}" srcOrd="3" destOrd="0" presId="urn:microsoft.com/office/officeart/2005/8/layout/vProcess5"/>
    <dgm:cxn modelId="{1477C075-8407-4BD9-94E8-0E54FE9412D8}" type="presParOf" srcId="{162E76FA-A20E-4861-87DE-11C597EA4C2B}" destId="{795677FB-1E0E-4AB3-9733-DD3E0DDAB7FE}" srcOrd="4" destOrd="0" presId="urn:microsoft.com/office/officeart/2005/8/layout/vProcess5"/>
    <dgm:cxn modelId="{83E5C303-E582-4370-B104-775B9A8310AF}" type="presParOf" srcId="{162E76FA-A20E-4861-87DE-11C597EA4C2B}" destId="{9102A301-95B5-4F20-BDF8-A1E5A027A158}" srcOrd="5" destOrd="0" presId="urn:microsoft.com/office/officeart/2005/8/layout/vProcess5"/>
    <dgm:cxn modelId="{294B52D2-C49C-499A-BCAA-F6E56AC924CB}" type="presParOf" srcId="{162E76FA-A20E-4861-87DE-11C597EA4C2B}" destId="{1BF84F5A-7F9B-41D7-978D-95A6A95C32E9}" srcOrd="6" destOrd="0" presId="urn:microsoft.com/office/officeart/2005/8/layout/vProcess5"/>
    <dgm:cxn modelId="{E049D260-AB93-4F5B-9BA5-563CA52DF639}" type="presParOf" srcId="{162E76FA-A20E-4861-87DE-11C597EA4C2B}" destId="{5E98D388-AAEC-4D2B-9681-384B3C24F065}" srcOrd="7" destOrd="0" presId="urn:microsoft.com/office/officeart/2005/8/layout/vProcess5"/>
    <dgm:cxn modelId="{A96551A9-D08D-4E8D-BC25-A6E834774783}" type="presParOf" srcId="{162E76FA-A20E-4861-87DE-11C597EA4C2B}" destId="{D50E3618-5008-4EE3-B145-9364BBF9579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61C76F-28BC-43D3-8FBE-EF4BCD4F2A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DEB59DC-6DE6-4498-AA5B-821BA7227C22}">
      <dgm:prSet/>
      <dgm:spPr/>
      <dgm:t>
        <a:bodyPr/>
        <a:lstStyle/>
        <a:p>
          <a:r>
            <a:rPr lang="en-US"/>
            <a:t>In the United States and Europe, the market share of game publishers on both sides is highly overlapping.</a:t>
          </a:r>
        </a:p>
      </dgm:t>
    </dgm:pt>
    <dgm:pt modelId="{9B50516A-0FBA-4900-8BC0-CB31FCF146BE}" type="parTrans" cxnId="{B87F4839-D4FA-4A18-873A-CCD8E67C6512}">
      <dgm:prSet/>
      <dgm:spPr/>
      <dgm:t>
        <a:bodyPr/>
        <a:lstStyle/>
        <a:p>
          <a:endParaRPr lang="en-US"/>
        </a:p>
      </dgm:t>
    </dgm:pt>
    <dgm:pt modelId="{68B25F8E-73C9-49FA-8D2D-99D32715F68A}" type="sibTrans" cxnId="{B87F4839-D4FA-4A18-873A-CCD8E67C6512}">
      <dgm:prSet/>
      <dgm:spPr/>
      <dgm:t>
        <a:bodyPr/>
        <a:lstStyle/>
        <a:p>
          <a:endParaRPr lang="en-US"/>
        </a:p>
      </dgm:t>
    </dgm:pt>
    <dgm:pt modelId="{793B0767-FC5D-49D8-83EA-EA2851F5FAEC}">
      <dgm:prSet/>
      <dgm:spPr/>
      <dgm:t>
        <a:bodyPr/>
        <a:lstStyle/>
        <a:p>
          <a:r>
            <a:rPr lang="en-US"/>
            <a:t>This may be due to the high cultural similarity, similar values ​​and similar living habits.</a:t>
          </a:r>
        </a:p>
      </dgm:t>
    </dgm:pt>
    <dgm:pt modelId="{C394AF15-0A13-4CF7-905C-AE627F3FE108}" type="parTrans" cxnId="{CE407876-9219-4184-A570-A0B2EBDE6DEB}">
      <dgm:prSet/>
      <dgm:spPr/>
      <dgm:t>
        <a:bodyPr/>
        <a:lstStyle/>
        <a:p>
          <a:endParaRPr lang="en-US"/>
        </a:p>
      </dgm:t>
    </dgm:pt>
    <dgm:pt modelId="{F76B13B1-5861-46D9-AEF9-E8322120E3CD}" type="sibTrans" cxnId="{CE407876-9219-4184-A570-A0B2EBDE6DEB}">
      <dgm:prSet/>
      <dgm:spPr/>
      <dgm:t>
        <a:bodyPr/>
        <a:lstStyle/>
        <a:p>
          <a:endParaRPr lang="en-US"/>
        </a:p>
      </dgm:t>
    </dgm:pt>
    <dgm:pt modelId="{C3BB386B-1A92-4DE2-A982-96E2335A4DD4}" type="pres">
      <dgm:prSet presAssocID="{6561C76F-28BC-43D3-8FBE-EF4BCD4F2AB9}" presName="linear" presStyleCnt="0">
        <dgm:presLayoutVars>
          <dgm:animLvl val="lvl"/>
          <dgm:resizeHandles val="exact"/>
        </dgm:presLayoutVars>
      </dgm:prSet>
      <dgm:spPr/>
    </dgm:pt>
    <dgm:pt modelId="{07EE0130-35AA-467B-B0B7-808B4364B815}" type="pres">
      <dgm:prSet presAssocID="{FDEB59DC-6DE6-4498-AA5B-821BA7227C22}" presName="parentText" presStyleLbl="node1" presStyleIdx="0" presStyleCnt="2" custLinFactY="-3789" custLinFactNeighborX="-2912" custLinFactNeighborY="-100000">
        <dgm:presLayoutVars>
          <dgm:chMax val="0"/>
          <dgm:bulletEnabled val="1"/>
        </dgm:presLayoutVars>
      </dgm:prSet>
      <dgm:spPr/>
    </dgm:pt>
    <dgm:pt modelId="{64DCB52E-1627-47EB-9626-66C4C67E857C}" type="pres">
      <dgm:prSet presAssocID="{68B25F8E-73C9-49FA-8D2D-99D32715F68A}" presName="spacer" presStyleCnt="0"/>
      <dgm:spPr/>
    </dgm:pt>
    <dgm:pt modelId="{BD5B1580-D9AC-4B3B-BE86-9A48D6463BC0}" type="pres">
      <dgm:prSet presAssocID="{793B0767-FC5D-49D8-83EA-EA2851F5FAE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87F4839-D4FA-4A18-873A-CCD8E67C6512}" srcId="{6561C76F-28BC-43D3-8FBE-EF4BCD4F2AB9}" destId="{FDEB59DC-6DE6-4498-AA5B-821BA7227C22}" srcOrd="0" destOrd="0" parTransId="{9B50516A-0FBA-4900-8BC0-CB31FCF146BE}" sibTransId="{68B25F8E-73C9-49FA-8D2D-99D32715F68A}"/>
    <dgm:cxn modelId="{CE407876-9219-4184-A570-A0B2EBDE6DEB}" srcId="{6561C76F-28BC-43D3-8FBE-EF4BCD4F2AB9}" destId="{793B0767-FC5D-49D8-83EA-EA2851F5FAEC}" srcOrd="1" destOrd="0" parTransId="{C394AF15-0A13-4CF7-905C-AE627F3FE108}" sibTransId="{F76B13B1-5861-46D9-AEF9-E8322120E3CD}"/>
    <dgm:cxn modelId="{AC7EBE59-18A0-46F7-A1EE-DB5583E7CFFA}" type="presOf" srcId="{793B0767-FC5D-49D8-83EA-EA2851F5FAEC}" destId="{BD5B1580-D9AC-4B3B-BE86-9A48D6463BC0}" srcOrd="0" destOrd="0" presId="urn:microsoft.com/office/officeart/2005/8/layout/vList2"/>
    <dgm:cxn modelId="{FCE18F83-AAD0-4281-8C7B-4077618CAC7D}" type="presOf" srcId="{FDEB59DC-6DE6-4498-AA5B-821BA7227C22}" destId="{07EE0130-35AA-467B-B0B7-808B4364B815}" srcOrd="0" destOrd="0" presId="urn:microsoft.com/office/officeart/2005/8/layout/vList2"/>
    <dgm:cxn modelId="{F4A0FBB3-B8EE-4C05-BDD3-37D88F92B043}" type="presOf" srcId="{6561C76F-28BC-43D3-8FBE-EF4BCD4F2AB9}" destId="{C3BB386B-1A92-4DE2-A982-96E2335A4DD4}" srcOrd="0" destOrd="0" presId="urn:microsoft.com/office/officeart/2005/8/layout/vList2"/>
    <dgm:cxn modelId="{3C3BB85F-06AC-4068-A6C8-3091C976611E}" type="presParOf" srcId="{C3BB386B-1A92-4DE2-A982-96E2335A4DD4}" destId="{07EE0130-35AA-467B-B0B7-808B4364B815}" srcOrd="0" destOrd="0" presId="urn:microsoft.com/office/officeart/2005/8/layout/vList2"/>
    <dgm:cxn modelId="{7C03819F-8063-4743-9860-42BB4ACF53C2}" type="presParOf" srcId="{C3BB386B-1A92-4DE2-A982-96E2335A4DD4}" destId="{64DCB52E-1627-47EB-9626-66C4C67E857C}" srcOrd="1" destOrd="0" presId="urn:microsoft.com/office/officeart/2005/8/layout/vList2"/>
    <dgm:cxn modelId="{9ECB81B4-28FA-4535-82F7-57925BC5CB4F}" type="presParOf" srcId="{C3BB386B-1A92-4DE2-A982-96E2335A4DD4}" destId="{BD5B1580-D9AC-4B3B-BE86-9A48D6463BC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567192-9C8C-4389-8EB2-139CBC3670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6ABB1B5-80BC-4595-A256-462D8909BC81}">
      <dgm:prSet/>
      <dgm:spPr/>
      <dgm:t>
        <a:bodyPr/>
        <a:lstStyle/>
        <a:p>
          <a:r>
            <a:rPr lang="en-US"/>
            <a:t>Insufficient regional representation</a:t>
          </a:r>
        </a:p>
      </dgm:t>
    </dgm:pt>
    <dgm:pt modelId="{A194E057-F1DF-476B-8184-5F3241E7E26B}" type="parTrans" cxnId="{717549BA-89A8-4A7B-86A7-B43FE96A879E}">
      <dgm:prSet/>
      <dgm:spPr/>
      <dgm:t>
        <a:bodyPr/>
        <a:lstStyle/>
        <a:p>
          <a:endParaRPr lang="en-US"/>
        </a:p>
      </dgm:t>
    </dgm:pt>
    <dgm:pt modelId="{A158885C-DDC6-4CED-A2DA-16F37C42C2D5}" type="sibTrans" cxnId="{717549BA-89A8-4A7B-86A7-B43FE96A879E}">
      <dgm:prSet/>
      <dgm:spPr/>
      <dgm:t>
        <a:bodyPr/>
        <a:lstStyle/>
        <a:p>
          <a:endParaRPr lang="en-US"/>
        </a:p>
      </dgm:t>
    </dgm:pt>
    <dgm:pt modelId="{DD72BCA4-1805-4B52-9618-73E8B0062771}">
      <dgm:prSet/>
      <dgm:spPr/>
      <dgm:t>
        <a:bodyPr/>
        <a:lstStyle/>
        <a:p>
          <a:r>
            <a:rPr lang="en-US"/>
            <a:t>The “Other countries” category is too general and may ignore unique trends in emerging markets (e.g., China, Southeast Asia).</a:t>
          </a:r>
        </a:p>
      </dgm:t>
    </dgm:pt>
    <dgm:pt modelId="{36621F62-FCC7-497D-A9B7-3637764D3141}" type="parTrans" cxnId="{0E9A64D8-964D-4D09-8C26-07684AA96F2C}">
      <dgm:prSet/>
      <dgm:spPr/>
      <dgm:t>
        <a:bodyPr/>
        <a:lstStyle/>
        <a:p>
          <a:endParaRPr lang="en-US"/>
        </a:p>
      </dgm:t>
    </dgm:pt>
    <dgm:pt modelId="{D192D357-C6C3-4E79-85C1-BBEB5E09781C}" type="sibTrans" cxnId="{0E9A64D8-964D-4D09-8C26-07684AA96F2C}">
      <dgm:prSet/>
      <dgm:spPr/>
      <dgm:t>
        <a:bodyPr/>
        <a:lstStyle/>
        <a:p>
          <a:endParaRPr lang="en-US"/>
        </a:p>
      </dgm:t>
    </dgm:pt>
    <dgm:pt modelId="{D899D07C-A872-4675-AD6F-C33114FCD4D0}">
      <dgm:prSet/>
      <dgm:spPr/>
      <dgm:t>
        <a:bodyPr/>
        <a:lstStyle/>
        <a:p>
          <a:r>
            <a:rPr lang="en-US"/>
            <a:t>Correlation ≠ Causation</a:t>
          </a:r>
        </a:p>
      </dgm:t>
    </dgm:pt>
    <dgm:pt modelId="{31A21601-52F2-4523-A9A4-CEC6199BAA58}" type="parTrans" cxnId="{2A02985F-98E2-4FD5-A10F-82E8B212AED0}">
      <dgm:prSet/>
      <dgm:spPr/>
      <dgm:t>
        <a:bodyPr/>
        <a:lstStyle/>
        <a:p>
          <a:endParaRPr lang="en-US"/>
        </a:p>
      </dgm:t>
    </dgm:pt>
    <dgm:pt modelId="{48EFB4A3-02FE-4ABA-9506-F6571764E0E3}" type="sibTrans" cxnId="{2A02985F-98E2-4FD5-A10F-82E8B212AED0}">
      <dgm:prSet/>
      <dgm:spPr/>
      <dgm:t>
        <a:bodyPr/>
        <a:lstStyle/>
        <a:p>
          <a:endParaRPr lang="en-US"/>
        </a:p>
      </dgm:t>
    </dgm:pt>
    <dgm:pt modelId="{842A7EE1-B393-4CC1-913E-BF9C322D6944}">
      <dgm:prSet/>
      <dgm:spPr/>
      <dgm:t>
        <a:bodyPr/>
        <a:lstStyle/>
        <a:p>
          <a:r>
            <a:rPr lang="en-US"/>
            <a:t>The high correlation between the North American and European markets only indicates association, but cannot prove causation (e.g. cultural similarities, distribution strategies, etc.).</a:t>
          </a:r>
        </a:p>
      </dgm:t>
    </dgm:pt>
    <dgm:pt modelId="{9A94E408-1291-4CC9-9228-7FA292DEBAF7}" type="parTrans" cxnId="{026AB31F-F2A7-4A89-B0D3-E8B6CE613067}">
      <dgm:prSet/>
      <dgm:spPr/>
      <dgm:t>
        <a:bodyPr/>
        <a:lstStyle/>
        <a:p>
          <a:endParaRPr lang="en-US"/>
        </a:p>
      </dgm:t>
    </dgm:pt>
    <dgm:pt modelId="{909653D9-2DD9-45C7-BBB7-1395403AC6EB}" type="sibTrans" cxnId="{026AB31F-F2A7-4A89-B0D3-E8B6CE613067}">
      <dgm:prSet/>
      <dgm:spPr/>
      <dgm:t>
        <a:bodyPr/>
        <a:lstStyle/>
        <a:p>
          <a:endParaRPr lang="en-US"/>
        </a:p>
      </dgm:t>
    </dgm:pt>
    <dgm:pt modelId="{FD46BF84-39F3-451B-B69F-5C0E8D0B581B}">
      <dgm:prSet/>
      <dgm:spPr/>
      <dgm:t>
        <a:bodyPr/>
        <a:lstStyle/>
        <a:p>
          <a:r>
            <a:rPr lang="en-US"/>
            <a:t>Assumptions and limitations of Bayesian theorem</a:t>
          </a:r>
        </a:p>
      </dgm:t>
    </dgm:pt>
    <dgm:pt modelId="{D14A4D3B-A89F-4B1A-B517-82C2FC184E71}" type="parTrans" cxnId="{4405733C-A42A-4708-9121-FCEB4B8BB12A}">
      <dgm:prSet/>
      <dgm:spPr/>
      <dgm:t>
        <a:bodyPr/>
        <a:lstStyle/>
        <a:p>
          <a:endParaRPr lang="en-US"/>
        </a:p>
      </dgm:t>
    </dgm:pt>
    <dgm:pt modelId="{C7E116B9-20FA-4FE2-9172-8A9E878F679C}" type="sibTrans" cxnId="{4405733C-A42A-4708-9121-FCEB4B8BB12A}">
      <dgm:prSet/>
      <dgm:spPr/>
      <dgm:t>
        <a:bodyPr/>
        <a:lstStyle/>
        <a:p>
          <a:endParaRPr lang="en-US"/>
        </a:p>
      </dgm:t>
    </dgm:pt>
    <dgm:pt modelId="{E495C1F4-659F-4C7B-B681-FF56FEEF94CE}">
      <dgm:prSet/>
      <dgm:spPr/>
      <dgm:t>
        <a:bodyPr/>
        <a:lstStyle/>
        <a:p>
          <a:r>
            <a:rPr lang="en-US"/>
            <a:t>The calculation of success rate ignore key variables such as marketing investment, IP effect, and platform exclusivity.</a:t>
          </a:r>
        </a:p>
      </dgm:t>
    </dgm:pt>
    <dgm:pt modelId="{B3ECC4E4-4A6E-4672-87A0-02ABF765F9A6}" type="parTrans" cxnId="{570E7F0A-8067-4C91-B738-94069867E572}">
      <dgm:prSet/>
      <dgm:spPr/>
      <dgm:t>
        <a:bodyPr/>
        <a:lstStyle/>
        <a:p>
          <a:endParaRPr lang="en-US"/>
        </a:p>
      </dgm:t>
    </dgm:pt>
    <dgm:pt modelId="{69C23621-0882-4BC7-B4B8-7C369DD04FAB}" type="sibTrans" cxnId="{570E7F0A-8067-4C91-B738-94069867E572}">
      <dgm:prSet/>
      <dgm:spPr/>
      <dgm:t>
        <a:bodyPr/>
        <a:lstStyle/>
        <a:p>
          <a:endParaRPr lang="en-US"/>
        </a:p>
      </dgm:t>
    </dgm:pt>
    <dgm:pt modelId="{5E8D9420-4088-4CD1-8C88-13091EA60F18}" type="pres">
      <dgm:prSet presAssocID="{05567192-9C8C-4389-8EB2-139CBC36700A}" presName="linear" presStyleCnt="0">
        <dgm:presLayoutVars>
          <dgm:animLvl val="lvl"/>
          <dgm:resizeHandles val="exact"/>
        </dgm:presLayoutVars>
      </dgm:prSet>
      <dgm:spPr/>
    </dgm:pt>
    <dgm:pt modelId="{773F7492-91C4-4419-B1F4-8B601B6267EF}" type="pres">
      <dgm:prSet presAssocID="{66ABB1B5-80BC-4595-A256-462D8909BC8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2644FFB-1704-4DF5-BE0C-E649C852B62F}" type="pres">
      <dgm:prSet presAssocID="{66ABB1B5-80BC-4595-A256-462D8909BC81}" presName="childText" presStyleLbl="revTx" presStyleIdx="0" presStyleCnt="3">
        <dgm:presLayoutVars>
          <dgm:bulletEnabled val="1"/>
        </dgm:presLayoutVars>
      </dgm:prSet>
      <dgm:spPr/>
    </dgm:pt>
    <dgm:pt modelId="{6B679405-9A00-4C73-87F7-79321B84BE7A}" type="pres">
      <dgm:prSet presAssocID="{D899D07C-A872-4675-AD6F-C33114FCD4D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65AD4A8-831F-4F8F-A192-8074D31B01A9}" type="pres">
      <dgm:prSet presAssocID="{D899D07C-A872-4675-AD6F-C33114FCD4D0}" presName="childText" presStyleLbl="revTx" presStyleIdx="1" presStyleCnt="3">
        <dgm:presLayoutVars>
          <dgm:bulletEnabled val="1"/>
        </dgm:presLayoutVars>
      </dgm:prSet>
      <dgm:spPr/>
    </dgm:pt>
    <dgm:pt modelId="{9A57967B-F4EC-48EE-82C3-0E68473F54F7}" type="pres">
      <dgm:prSet presAssocID="{FD46BF84-39F3-451B-B69F-5C0E8D0B581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BCE803F-8930-4E3A-AA51-106D38EE2ECB}" type="pres">
      <dgm:prSet presAssocID="{FD46BF84-39F3-451B-B69F-5C0E8D0B581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70E7F0A-8067-4C91-B738-94069867E572}" srcId="{FD46BF84-39F3-451B-B69F-5C0E8D0B581B}" destId="{E495C1F4-659F-4C7B-B681-FF56FEEF94CE}" srcOrd="0" destOrd="0" parTransId="{B3ECC4E4-4A6E-4672-87A0-02ABF765F9A6}" sibTransId="{69C23621-0882-4BC7-B4B8-7C369DD04FAB}"/>
    <dgm:cxn modelId="{E83E240C-F0D6-4192-B176-7417A098F606}" type="presOf" srcId="{05567192-9C8C-4389-8EB2-139CBC36700A}" destId="{5E8D9420-4088-4CD1-8C88-13091EA60F18}" srcOrd="0" destOrd="0" presId="urn:microsoft.com/office/officeart/2005/8/layout/vList2"/>
    <dgm:cxn modelId="{026AB31F-F2A7-4A89-B0D3-E8B6CE613067}" srcId="{D899D07C-A872-4675-AD6F-C33114FCD4D0}" destId="{842A7EE1-B393-4CC1-913E-BF9C322D6944}" srcOrd="0" destOrd="0" parTransId="{9A94E408-1291-4CC9-9228-7FA292DEBAF7}" sibTransId="{909653D9-2DD9-45C7-BBB7-1395403AC6EB}"/>
    <dgm:cxn modelId="{B90C9523-2D96-4C26-AB54-0BF8183FD93C}" type="presOf" srcId="{842A7EE1-B393-4CC1-913E-BF9C322D6944}" destId="{365AD4A8-831F-4F8F-A192-8074D31B01A9}" srcOrd="0" destOrd="0" presId="urn:microsoft.com/office/officeart/2005/8/layout/vList2"/>
    <dgm:cxn modelId="{4405733C-A42A-4708-9121-FCEB4B8BB12A}" srcId="{05567192-9C8C-4389-8EB2-139CBC36700A}" destId="{FD46BF84-39F3-451B-B69F-5C0E8D0B581B}" srcOrd="2" destOrd="0" parTransId="{D14A4D3B-A89F-4B1A-B517-82C2FC184E71}" sibTransId="{C7E116B9-20FA-4FE2-9172-8A9E878F679C}"/>
    <dgm:cxn modelId="{2A02985F-98E2-4FD5-A10F-82E8B212AED0}" srcId="{05567192-9C8C-4389-8EB2-139CBC36700A}" destId="{D899D07C-A872-4675-AD6F-C33114FCD4D0}" srcOrd="1" destOrd="0" parTransId="{31A21601-52F2-4523-A9A4-CEC6199BAA58}" sibTransId="{48EFB4A3-02FE-4ABA-9506-F6571764E0E3}"/>
    <dgm:cxn modelId="{6F1D984E-41E8-45FF-A20B-F7D0677B1CF7}" type="presOf" srcId="{FD46BF84-39F3-451B-B69F-5C0E8D0B581B}" destId="{9A57967B-F4EC-48EE-82C3-0E68473F54F7}" srcOrd="0" destOrd="0" presId="urn:microsoft.com/office/officeart/2005/8/layout/vList2"/>
    <dgm:cxn modelId="{1BC89252-C32A-498A-B3EB-A7B6A900EF3C}" type="presOf" srcId="{66ABB1B5-80BC-4595-A256-462D8909BC81}" destId="{773F7492-91C4-4419-B1F4-8B601B6267EF}" srcOrd="0" destOrd="0" presId="urn:microsoft.com/office/officeart/2005/8/layout/vList2"/>
    <dgm:cxn modelId="{071C957D-EB3C-49B9-8D31-2266D15DCCBF}" type="presOf" srcId="{D899D07C-A872-4675-AD6F-C33114FCD4D0}" destId="{6B679405-9A00-4C73-87F7-79321B84BE7A}" srcOrd="0" destOrd="0" presId="urn:microsoft.com/office/officeart/2005/8/layout/vList2"/>
    <dgm:cxn modelId="{8881FB91-83D0-47A4-A18F-C3BCF4C381C3}" type="presOf" srcId="{E495C1F4-659F-4C7B-B681-FF56FEEF94CE}" destId="{9BCE803F-8930-4E3A-AA51-106D38EE2ECB}" srcOrd="0" destOrd="0" presId="urn:microsoft.com/office/officeart/2005/8/layout/vList2"/>
    <dgm:cxn modelId="{717549BA-89A8-4A7B-86A7-B43FE96A879E}" srcId="{05567192-9C8C-4389-8EB2-139CBC36700A}" destId="{66ABB1B5-80BC-4595-A256-462D8909BC81}" srcOrd="0" destOrd="0" parTransId="{A194E057-F1DF-476B-8184-5F3241E7E26B}" sibTransId="{A158885C-DDC6-4CED-A2DA-16F37C42C2D5}"/>
    <dgm:cxn modelId="{0E9A64D8-964D-4D09-8C26-07684AA96F2C}" srcId="{66ABB1B5-80BC-4595-A256-462D8909BC81}" destId="{DD72BCA4-1805-4B52-9618-73E8B0062771}" srcOrd="0" destOrd="0" parTransId="{36621F62-FCC7-497D-A9B7-3637764D3141}" sibTransId="{D192D357-C6C3-4E79-85C1-BBEB5E09781C}"/>
    <dgm:cxn modelId="{320A21E7-2FA3-4B65-ABC1-E623937AA0CA}" type="presOf" srcId="{DD72BCA4-1805-4B52-9618-73E8B0062771}" destId="{62644FFB-1704-4DF5-BE0C-E649C852B62F}" srcOrd="0" destOrd="0" presId="urn:microsoft.com/office/officeart/2005/8/layout/vList2"/>
    <dgm:cxn modelId="{F837FF26-DBC7-42E4-AF1F-4EAD63DCD071}" type="presParOf" srcId="{5E8D9420-4088-4CD1-8C88-13091EA60F18}" destId="{773F7492-91C4-4419-B1F4-8B601B6267EF}" srcOrd="0" destOrd="0" presId="urn:microsoft.com/office/officeart/2005/8/layout/vList2"/>
    <dgm:cxn modelId="{A7837ABB-EB68-4DCB-B7DE-0878281BDE1E}" type="presParOf" srcId="{5E8D9420-4088-4CD1-8C88-13091EA60F18}" destId="{62644FFB-1704-4DF5-BE0C-E649C852B62F}" srcOrd="1" destOrd="0" presId="urn:microsoft.com/office/officeart/2005/8/layout/vList2"/>
    <dgm:cxn modelId="{A7A454E7-353A-4B94-A51A-3AF909F579BB}" type="presParOf" srcId="{5E8D9420-4088-4CD1-8C88-13091EA60F18}" destId="{6B679405-9A00-4C73-87F7-79321B84BE7A}" srcOrd="2" destOrd="0" presId="urn:microsoft.com/office/officeart/2005/8/layout/vList2"/>
    <dgm:cxn modelId="{E27C7E2E-ADCD-4E9C-8404-69A632E7A286}" type="presParOf" srcId="{5E8D9420-4088-4CD1-8C88-13091EA60F18}" destId="{365AD4A8-831F-4F8F-A192-8074D31B01A9}" srcOrd="3" destOrd="0" presId="urn:microsoft.com/office/officeart/2005/8/layout/vList2"/>
    <dgm:cxn modelId="{95C4F9E5-F1A9-49A2-9A47-CF0FA25FA164}" type="presParOf" srcId="{5E8D9420-4088-4CD1-8C88-13091EA60F18}" destId="{9A57967B-F4EC-48EE-82C3-0E68473F54F7}" srcOrd="4" destOrd="0" presId="urn:microsoft.com/office/officeart/2005/8/layout/vList2"/>
    <dgm:cxn modelId="{4441D8BB-9BB3-4D19-965E-E58589AC5871}" type="presParOf" srcId="{5E8D9420-4088-4CD1-8C88-13091EA60F18}" destId="{9BCE803F-8930-4E3A-AA51-106D38EE2EC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34229F-C64B-4A7F-96F8-E28E1883C376}">
      <dsp:nvSpPr>
        <dsp:cNvPr id="0" name=""/>
        <dsp:cNvSpPr/>
      </dsp:nvSpPr>
      <dsp:spPr>
        <a:xfrm>
          <a:off x="0" y="38189"/>
          <a:ext cx="8071962" cy="5362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DS, PS2 and PS3 have the highest share in Japan, showing Japanese players prefer portable devices and PlayStation series.</a:t>
          </a:r>
        </a:p>
      </dsp:txBody>
      <dsp:txXfrm>
        <a:off x="15708" y="53897"/>
        <a:ext cx="7493256" cy="504880"/>
      </dsp:txXfrm>
    </dsp:sp>
    <dsp:sp modelId="{2001ED84-0D4C-49CC-B0F8-96E3CA9137B7}">
      <dsp:nvSpPr>
        <dsp:cNvPr id="0" name=""/>
        <dsp:cNvSpPr/>
      </dsp:nvSpPr>
      <dsp:spPr>
        <a:xfrm>
          <a:off x="712232" y="625679"/>
          <a:ext cx="8071962" cy="5362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Traditional consoles (SNES and NES) only have a high market share in Japan, shows that Japanese players are more nostalgic and stick to traditional gameplay.</a:t>
          </a:r>
        </a:p>
      </dsp:txBody>
      <dsp:txXfrm>
        <a:off x="727940" y="641387"/>
        <a:ext cx="6979722" cy="504880"/>
      </dsp:txXfrm>
    </dsp:sp>
    <dsp:sp modelId="{C80FD6A5-731E-4EC9-86FA-763FE1ED6B68}">
      <dsp:nvSpPr>
        <dsp:cNvPr id="0" name=""/>
        <dsp:cNvSpPr/>
      </dsp:nvSpPr>
      <dsp:spPr>
        <a:xfrm>
          <a:off x="1424464" y="1251358"/>
          <a:ext cx="8071962" cy="5362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Home consoles (Wii, X360) have higher market share in Western world, showing that they tend to play games at home</a:t>
          </a:r>
        </a:p>
      </dsp:txBody>
      <dsp:txXfrm>
        <a:off x="1440172" y="1267066"/>
        <a:ext cx="6979722" cy="504880"/>
      </dsp:txXfrm>
    </dsp:sp>
    <dsp:sp modelId="{795677FB-1E0E-4AB3-9733-DD3E0DDAB7FE}">
      <dsp:nvSpPr>
        <dsp:cNvPr id="0" name=""/>
        <dsp:cNvSpPr/>
      </dsp:nvSpPr>
      <dsp:spPr>
        <a:xfrm>
          <a:off x="7723370" y="406691"/>
          <a:ext cx="348592" cy="34859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7801803" y="406691"/>
        <a:ext cx="191726" cy="262315"/>
      </dsp:txXfrm>
    </dsp:sp>
    <dsp:sp modelId="{9102A301-95B5-4F20-BDF8-A1E5A027A158}">
      <dsp:nvSpPr>
        <dsp:cNvPr id="0" name=""/>
        <dsp:cNvSpPr/>
      </dsp:nvSpPr>
      <dsp:spPr>
        <a:xfrm>
          <a:off x="8435602" y="1028795"/>
          <a:ext cx="348592" cy="34859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8514035" y="1028795"/>
        <a:ext cx="191726" cy="2623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EE0130-35AA-467B-B0B7-808B4364B815}">
      <dsp:nvSpPr>
        <dsp:cNvPr id="0" name=""/>
        <dsp:cNvSpPr/>
      </dsp:nvSpPr>
      <dsp:spPr>
        <a:xfrm>
          <a:off x="0" y="0"/>
          <a:ext cx="5008604" cy="2069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 the United States and Europe, the market share of game publishers on both sides is highly overlapping.</a:t>
          </a:r>
        </a:p>
      </dsp:txBody>
      <dsp:txXfrm>
        <a:off x="101036" y="101036"/>
        <a:ext cx="4806532" cy="1867658"/>
      </dsp:txXfrm>
    </dsp:sp>
    <dsp:sp modelId="{BD5B1580-D9AC-4B3B-BE86-9A48D6463BC0}">
      <dsp:nvSpPr>
        <dsp:cNvPr id="0" name=""/>
        <dsp:cNvSpPr/>
      </dsp:nvSpPr>
      <dsp:spPr>
        <a:xfrm>
          <a:off x="0" y="2180152"/>
          <a:ext cx="5008604" cy="2069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This may be due to the high cultural similarity, similar values ​​and similar living habits.</a:t>
          </a:r>
        </a:p>
      </dsp:txBody>
      <dsp:txXfrm>
        <a:off x="101036" y="2281188"/>
        <a:ext cx="4806532" cy="18676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F7492-91C4-4419-B1F4-8B601B6267EF}">
      <dsp:nvSpPr>
        <dsp:cNvPr id="0" name=""/>
        <dsp:cNvSpPr/>
      </dsp:nvSpPr>
      <dsp:spPr>
        <a:xfrm>
          <a:off x="0" y="48811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Insufficient regional representation</a:t>
          </a:r>
        </a:p>
      </dsp:txBody>
      <dsp:txXfrm>
        <a:off x="32384" y="81195"/>
        <a:ext cx="10450832" cy="598621"/>
      </dsp:txXfrm>
    </dsp:sp>
    <dsp:sp modelId="{62644FFB-1704-4DF5-BE0C-E649C852B62F}">
      <dsp:nvSpPr>
        <dsp:cNvPr id="0" name=""/>
        <dsp:cNvSpPr/>
      </dsp:nvSpPr>
      <dsp:spPr>
        <a:xfrm>
          <a:off x="0" y="712201"/>
          <a:ext cx="10515600" cy="656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The “Other countries” category is too general and may ignore unique trends in emerging markets (e.g., China, Southeast Asia).</a:t>
          </a:r>
        </a:p>
      </dsp:txBody>
      <dsp:txXfrm>
        <a:off x="0" y="712201"/>
        <a:ext cx="10515600" cy="656707"/>
      </dsp:txXfrm>
    </dsp:sp>
    <dsp:sp modelId="{6B679405-9A00-4C73-87F7-79321B84BE7A}">
      <dsp:nvSpPr>
        <dsp:cNvPr id="0" name=""/>
        <dsp:cNvSpPr/>
      </dsp:nvSpPr>
      <dsp:spPr>
        <a:xfrm>
          <a:off x="0" y="1368909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Correlation ≠ Causation</a:t>
          </a:r>
        </a:p>
      </dsp:txBody>
      <dsp:txXfrm>
        <a:off x="32384" y="1401293"/>
        <a:ext cx="10450832" cy="598621"/>
      </dsp:txXfrm>
    </dsp:sp>
    <dsp:sp modelId="{365AD4A8-831F-4F8F-A192-8074D31B01A9}">
      <dsp:nvSpPr>
        <dsp:cNvPr id="0" name=""/>
        <dsp:cNvSpPr/>
      </dsp:nvSpPr>
      <dsp:spPr>
        <a:xfrm>
          <a:off x="0" y="2032299"/>
          <a:ext cx="10515600" cy="950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The high correlation between the North American and European markets only indicates association, but cannot prove causation (e.g. cultural similarities, distribution strategies, etc.).</a:t>
          </a:r>
        </a:p>
      </dsp:txBody>
      <dsp:txXfrm>
        <a:off x="0" y="2032299"/>
        <a:ext cx="10515600" cy="950130"/>
      </dsp:txXfrm>
    </dsp:sp>
    <dsp:sp modelId="{9A57967B-F4EC-48EE-82C3-0E68473F54F7}">
      <dsp:nvSpPr>
        <dsp:cNvPr id="0" name=""/>
        <dsp:cNvSpPr/>
      </dsp:nvSpPr>
      <dsp:spPr>
        <a:xfrm>
          <a:off x="0" y="2982429"/>
          <a:ext cx="10515600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Assumptions and limitations of Bayesian theorem</a:t>
          </a:r>
        </a:p>
      </dsp:txBody>
      <dsp:txXfrm>
        <a:off x="32384" y="3014813"/>
        <a:ext cx="10450832" cy="598621"/>
      </dsp:txXfrm>
    </dsp:sp>
    <dsp:sp modelId="{9BCE803F-8930-4E3A-AA51-106D38EE2ECB}">
      <dsp:nvSpPr>
        <dsp:cNvPr id="0" name=""/>
        <dsp:cNvSpPr/>
      </dsp:nvSpPr>
      <dsp:spPr>
        <a:xfrm>
          <a:off x="0" y="3645819"/>
          <a:ext cx="10515600" cy="656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The calculation of success rate ignore key variables such as marketing investment, IP effect, and platform exclusivity.</a:t>
          </a:r>
        </a:p>
      </dsp:txBody>
      <dsp:txXfrm>
        <a:off x="0" y="3645819"/>
        <a:ext cx="10515600" cy="6567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6T12:26:15.4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1600,'10'-1,"0"0,0 0,-1-1,1 0,-1-1,1 0,-1 0,14-8,6-5,31-23,-36 23,87-61,156-142,-223 181,-22 20,34-37,-29 23,11-10,-3-2,34-54,-57 77,1 1,1 1,1 0,19-19,39-38,4-4,31-31,-39 34,-63 70,0 0,-1-1,0 0,8-16,-9 15,1 0,0 1,0 0,11-13,41-34,-36 37,-2-1,0-1,-1 0,16-25,-27 35,0 1,14-14,-13 16,-1-1,0 0,-1-1,6-9,0-3,-3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6T12:26:31.7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1416,'36'-36,"142"-148,-4-6,-22 26,74-75,-170 187,-48 45,1 1,0 0,0 0,0 1,12-5,46-21,-4 0,-32 15,-22 11,-1 1,12-5,-6 4,-1-1,0 0,0-1,-1 0,1-1,-2 0,14-13,-6 5,51-42,-42 41,-19 11,0 1,0-1,12-12,45-47,73-58,-135 120,0-1,1 1,-1 0,1 1,0-1,0 1,0-1,0 1,0 1,0-1,0 1,10-1,1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6T12:26:24.0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1275,'2'-1,"0"0,0 0,-1 0,1-1,0 1,-1 0,1-1,-1 1,0-1,1 0,1-2,3-4,19-14,0 0,53-33,64-25,-9 4,-94 52,76-35,-39 24,101-64,-35 18,-118 69,171-102,1-21,-154 104,-27 19,0 1,0 0,1 2,1 0,34-14,-42 20,-4 2,1 0,-1-1,0 0,0 0,0-1,-1 1,8-6,160-136,-149 125,38-41,-57 55,0 0,0-1,-1 1,0-1,0 0,0 0,-1 0,4-11,-2-2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6T12:26:27.3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1134,'18'-6,"24"-11,-15 4,82-36,50-28,479-266,-443 226,-33 13,251-203,-400 297,0-1,-1-1,0 0,-1-1,12-17,-15 17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7F52F-1AF8-4B74-8E80-B11A720C471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37D6B-C732-417D-AB50-2DCBABE36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23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37D6B-C732-417D-AB50-2DCBABE36D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69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37D6B-C732-417D-AB50-2DCBABE36D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1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37D6B-C732-417D-AB50-2DCBABE36D0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7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C6ED-8FA0-5779-73AF-FB387BBB0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2243E-6F80-5638-2FF0-38C69CB7B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292E-4864-1CBB-DE7B-F348578C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728BF-A996-02AB-622B-896E92B67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3121D-7AB2-B69B-A56E-51D3625A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2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FACB-8D93-10A1-41A6-07A6D73B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3D281-D9DB-F13D-101C-5F6D0BBCE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540E7-7F8A-0D45-A2C2-A1928605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4B9DB-FFD0-0AF4-7FF9-BD3112C5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C12AC-16AF-91C2-B429-444777B6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0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054E-C9A1-D409-ECF6-1E3141519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1D7F6-E2D6-2036-389E-8EE6A90D3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E4147-E3DE-26CD-965E-CCA62863F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71026-8939-4473-57C7-E246352D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2B6B1-AC70-0889-259D-49172629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35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DB5E-75A2-E053-4A73-B48CD61A1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2C5F3-BD74-C90B-1175-79CFB6904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F63B8-5644-3C11-9910-38CCA18E6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75595-60CA-AA5E-9472-7188848E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737F4-E268-8A3B-FC2A-C6B61FF95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35103-A7CE-5E8A-E5E4-CE7A22FD3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0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D39F8-F363-0767-34CF-7A44D52E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A7C23-DDC5-FC20-80E9-EA7BD2465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4198C-B1E9-1288-BF0F-358CE911F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54DE51-7139-C63D-6822-46628AD24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7AEDE-EF39-77C1-65A1-F13F16ADB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D1DDC-599E-CE53-9A6C-E95F0F673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A5125E-4033-A02B-0021-5CDC1DF5E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8B964-0FE6-1B12-C770-07BD4643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3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E635-2659-F7E1-E65F-B2ECC4635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8EFDC-F823-EB64-0421-0FEB11A2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2A5F4-8F9B-C05A-502F-0FCE43D7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62CBC-4FA4-BCF3-A325-13504CE5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1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CF469-A848-99D1-A72D-7D3C62D84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EC59C7-1A97-40C3-9D94-D6605400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79126-CD00-0F1B-3C64-3BADFB19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978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0CD77-301F-2EB4-A1B6-AFB0C6E2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0B62D-C8F7-EA7B-7BB6-6BC8DD242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34CD9-F7BB-26F9-3672-8CB6B8DA3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1BE52-3DE6-EE00-D6B4-0BC4F823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AF013-504C-A6D6-991B-11E4CD08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A1EC9-41E0-149E-2497-AD8D956E9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7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E0D2-F732-D975-5E4D-65C1859C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A9DEC3-35B7-CC7A-0EAF-420DF4A33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27A2A-234D-9695-9B15-D084E2008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9D6E1-1FBA-6A9D-7EFD-EB49B4FBF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C2205-D8FB-1317-68C7-5412C61F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67CAC-A8FD-BDB4-2F6E-8D70F07F4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6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823C-E12A-E086-10FC-8F58CEA7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503FB-7F08-82D0-6498-60876D4C2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9BEE9-5025-738E-9424-6BF52249C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72593-B4AC-2BEE-A32C-0BE5650F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D5396-E906-37F4-F8E5-9423DE85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2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4609B8-7923-58AB-A687-CF55E62C3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60599-8ECD-29C3-0FA7-E4A7C3B3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3E6C0-72B7-9EC0-AC29-857F412AA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DAE16-DF8B-82C6-407F-4FD0B70A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43193-A8F6-58D4-CC2C-BB3981F2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70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BE716-77A2-3554-F4AC-4C4B801F3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96DFC-94F2-6D12-2838-953667CF3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4A638-06B8-70D3-BC96-2D650BD6A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B0422-75AF-43D0-B27C-ECCB093594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55AD3-781D-C4F8-9F8E-D4DDE8D80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AF9EB-0F8D-BCED-40EA-4DF886BE2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EC7E8-44A7-481A-956F-2293CA441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1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7" name="Rectangle 1046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ame 影像– 瀏覽12,448,663 個素材庫相片、向量圖和影片| Adobe Stock">
            <a:extLst>
              <a:ext uri="{FF2B5EF4-FFF2-40B4-BE49-F238E27FC236}">
                <a16:creationId xmlns:a16="http://schemas.microsoft.com/office/drawing/2014/main" id="{AFA38A52-DFC0-D916-D576-BE0F94DE1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9" r="1" b="1"/>
          <a:stretch/>
        </p:blipFill>
        <p:spPr bwMode="auto">
          <a:xfrm>
            <a:off x="20" y="10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8" name="Rectangle 1047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0C9E1D-BE8E-F3E3-AC66-920372DC8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</a:rPr>
              <a:t>COMP 2501 Project Presentation</a:t>
            </a:r>
          </a:p>
        </p:txBody>
      </p:sp>
      <p:sp>
        <p:nvSpPr>
          <p:cNvPr id="1046" name="Rectangle: Rounded Corners 1045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DE0CD-FF28-4A8D-A78E-33214EB26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Hoe Young 3036385640</a:t>
            </a:r>
          </a:p>
        </p:txBody>
      </p:sp>
    </p:spTree>
    <p:extLst>
      <p:ext uri="{BB962C8B-B14F-4D97-AF65-F5344CB8AC3E}">
        <p14:creationId xmlns:p14="http://schemas.microsoft.com/office/powerpoint/2010/main" val="4266369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tack of dice on a boardgame">
            <a:extLst>
              <a:ext uri="{FF2B5EF4-FFF2-40B4-BE49-F238E27FC236}">
                <a16:creationId xmlns:a16="http://schemas.microsoft.com/office/drawing/2014/main" id="{720ED2CA-AF3E-EF19-7A93-704B3217AA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077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D0D05A-33C2-04B1-1FF5-F92ED9C1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71334" cy="1899912"/>
          </a:xfrm>
        </p:spPr>
        <p:txBody>
          <a:bodyPr>
            <a:normAutofit/>
          </a:bodyPr>
          <a:lstStyle/>
          <a:p>
            <a:r>
              <a:rPr lang="en-US" sz="3100" dirty="0"/>
              <a:t>Global video game sales trends: Evolution of platforms, regions and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FC7DA-FEFF-99D1-AE93-1EE0DA968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Autofit/>
          </a:bodyPr>
          <a:lstStyle/>
          <a:p>
            <a:r>
              <a:rPr lang="en-US" sz="2600" dirty="0"/>
              <a:t>What are the trends of popular game platforms and game types.</a:t>
            </a:r>
          </a:p>
          <a:p>
            <a:r>
              <a:rPr lang="en-US" sz="2600" dirty="0"/>
              <a:t>Are there differences in game genre and platform popularity between different regions?</a:t>
            </a:r>
          </a:p>
        </p:txBody>
      </p:sp>
    </p:spTree>
    <p:extLst>
      <p:ext uri="{BB962C8B-B14F-4D97-AF65-F5344CB8AC3E}">
        <p14:creationId xmlns:p14="http://schemas.microsoft.com/office/powerpoint/2010/main" val="305917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6DD992-39A6-3477-3DE0-967F16A9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Autofit/>
          </a:bodyPr>
          <a:lstStyle/>
          <a:p>
            <a:r>
              <a:rPr lang="en-US" sz="2900" dirty="0">
                <a:solidFill>
                  <a:srgbClr val="FFFFFF"/>
                </a:solidFill>
              </a:rPr>
              <a:t>What are the trends of popular game platforms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5A3552-238F-743F-C139-0AE1AAB2A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FFFFFF"/>
                </a:solidFill>
              </a:rPr>
              <a:t>1995-2000: PS</a:t>
            </a:r>
          </a:p>
          <a:p>
            <a:r>
              <a:rPr lang="en-US" sz="2300" dirty="0">
                <a:solidFill>
                  <a:srgbClr val="FFFFFF"/>
                </a:solidFill>
              </a:rPr>
              <a:t>2000-2005: PS2</a:t>
            </a:r>
          </a:p>
          <a:p>
            <a:r>
              <a:rPr lang="en-US" sz="2300" dirty="0">
                <a:solidFill>
                  <a:srgbClr val="FFFFFF"/>
                </a:solidFill>
              </a:rPr>
              <a:t>2005-2010: DS (Nintendo)</a:t>
            </a:r>
          </a:p>
          <a:p>
            <a:r>
              <a:rPr lang="en-US" sz="2300" dirty="0">
                <a:solidFill>
                  <a:srgbClr val="FFFFFF"/>
                </a:solidFill>
              </a:rPr>
              <a:t>2010-2015: PS3</a:t>
            </a:r>
          </a:p>
          <a:p>
            <a:r>
              <a:rPr lang="en-US" sz="2300" dirty="0">
                <a:solidFill>
                  <a:srgbClr val="FFFFFF"/>
                </a:solidFill>
              </a:rPr>
              <a:t>2015 onwards: PS4</a:t>
            </a:r>
          </a:p>
          <a:p>
            <a:r>
              <a:rPr lang="en-US" sz="2300" dirty="0">
                <a:solidFill>
                  <a:srgbClr val="FFFFFF"/>
                </a:solidFill>
              </a:rPr>
              <a:t>The PS series of gaming platforms dominate the market</a:t>
            </a:r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E0789859-FD1B-8636-A5D9-EA3F715590A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6093902" y="999460"/>
            <a:ext cx="5488498" cy="475629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4570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6C4401-C46C-D39F-9232-18A191168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Market share of gaming platform in different regions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AB5A9B-E3CB-441E-20A8-31B83BC54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3" y="1590138"/>
            <a:ext cx="7516879" cy="3262561"/>
          </a:xfrm>
          <a:prstGeom prst="rect">
            <a:avLst/>
          </a:prstGeom>
        </p:spPr>
      </p:pic>
      <p:graphicFrame>
        <p:nvGraphicFramePr>
          <p:cNvPr id="39" name="Content Placeholder 21">
            <a:extLst>
              <a:ext uri="{FF2B5EF4-FFF2-40B4-BE49-F238E27FC236}">
                <a16:creationId xmlns:a16="http://schemas.microsoft.com/office/drawing/2014/main" id="{968C1439-60C9-03EA-17BD-B2E5B5EE20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060482"/>
              </p:ext>
            </p:extLst>
          </p:nvPr>
        </p:nvGraphicFramePr>
        <p:xfrm>
          <a:off x="1371598" y="4961522"/>
          <a:ext cx="9496427" cy="1787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8582CB-F33B-B4EA-21C5-FEC4BF321D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0620" y="1669142"/>
            <a:ext cx="4617095" cy="299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11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6B4EB-7982-AFBF-B950-6D4B9CFBF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200" dirty="0"/>
              <a:t>Game market trends by region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B26C2B36-E22E-A583-2F68-2CFFA498335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143" y="1340350"/>
            <a:ext cx="5221625" cy="4177300"/>
          </a:xfrm>
          <a:prstGeom prst="rect">
            <a:avLst/>
          </a:prstGeom>
          <a:noFill/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6684404-E250-3807-E259-C0DFB9C97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38183"/>
            <a:ext cx="5257800" cy="403878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00F88149-DBF7-16BF-53B9-78BB120DDC86}"/>
              </a:ext>
            </a:extLst>
          </p:cNvPr>
          <p:cNvSpPr/>
          <p:nvPr/>
        </p:nvSpPr>
        <p:spPr>
          <a:xfrm>
            <a:off x="6179729" y="2158493"/>
            <a:ext cx="3125972" cy="1046773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300" dirty="0"/>
              <a:t>North America</a:t>
            </a:r>
            <a:endParaRPr lang="en-US" sz="2300" dirty="0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FB4D2BCA-DAA9-F559-1903-D4D07EDB9693}"/>
              </a:ext>
            </a:extLst>
          </p:cNvPr>
          <p:cNvSpPr/>
          <p:nvPr/>
        </p:nvSpPr>
        <p:spPr>
          <a:xfrm>
            <a:off x="6179729" y="3342494"/>
            <a:ext cx="3125972" cy="1046773"/>
          </a:xfrm>
          <a:prstGeom prst="flowChartProcess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/>
              <a:t>European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0C241448-E601-C6F4-265A-951D0334DAE7}"/>
              </a:ext>
            </a:extLst>
          </p:cNvPr>
          <p:cNvSpPr/>
          <p:nvPr/>
        </p:nvSpPr>
        <p:spPr>
          <a:xfrm>
            <a:off x="6179729" y="4546918"/>
            <a:ext cx="3125972" cy="1046773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/>
              <a:t>Japan</a:t>
            </a:r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00F88149-DBF7-16BF-53B9-78BB120DDC86}"/>
              </a:ext>
            </a:extLst>
          </p:cNvPr>
          <p:cNvSpPr/>
          <p:nvPr/>
        </p:nvSpPr>
        <p:spPr>
          <a:xfrm>
            <a:off x="6179729" y="5717429"/>
            <a:ext cx="3125972" cy="1046773"/>
          </a:xfrm>
          <a:prstGeom prst="flowChart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300" dirty="0"/>
              <a:t>Other</a:t>
            </a:r>
            <a:r>
              <a:rPr lang="en-US" dirty="0"/>
              <a:t> </a:t>
            </a:r>
            <a:r>
              <a:rPr lang="en-US" sz="2300" dirty="0"/>
              <a:t>countries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83CFF131-367A-D601-5A7D-2D9CB448D666}"/>
              </a:ext>
            </a:extLst>
          </p:cNvPr>
          <p:cNvSpPr/>
          <p:nvPr/>
        </p:nvSpPr>
        <p:spPr>
          <a:xfrm>
            <a:off x="9621790" y="2748701"/>
            <a:ext cx="701268" cy="367638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FC5BE3-1357-256B-ABB4-F327EBB77B82}"/>
              </a:ext>
            </a:extLst>
          </p:cNvPr>
          <p:cNvSpPr txBox="1"/>
          <p:nvPr/>
        </p:nvSpPr>
        <p:spPr>
          <a:xfrm>
            <a:off x="10284111" y="3383121"/>
            <a:ext cx="569387" cy="35132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2500" dirty="0"/>
              <a:t>Game sales </a:t>
            </a:r>
          </a:p>
        </p:txBody>
      </p:sp>
    </p:spTree>
    <p:extLst>
      <p:ext uri="{BB962C8B-B14F-4D97-AF65-F5344CB8AC3E}">
        <p14:creationId xmlns:p14="http://schemas.microsoft.com/office/powerpoint/2010/main" val="348361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28DB9-CD1B-CA72-81A8-B95502897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Total sales of each game genre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830D9D-B6FB-A714-C0B8-803FD167E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600" dirty="0"/>
              <a:t>Action, sports and shooter games share the largest market share.</a:t>
            </a:r>
          </a:p>
          <a:p>
            <a:endParaRPr lang="en-US" sz="2200" dirty="0"/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95DB2ED5-842A-4B60-8563-0DAA959BD02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73526" y="385962"/>
            <a:ext cx="7386083" cy="6192046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1527E1-3A33-99F5-7333-B15E09BBC044}"/>
                  </a:ext>
                </a:extLst>
              </p14:cNvPr>
              <p14:cNvContentPartPr/>
              <p14:nvPr/>
            </p14:nvContentPartPr>
            <p14:xfrm>
              <a:off x="10230161" y="5440147"/>
              <a:ext cx="587520" cy="576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1527E1-3A33-99F5-7333-B15E09BBC0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76161" y="5332507"/>
                <a:ext cx="695160" cy="7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D4A63C-C0A9-991C-56AA-BFF0A6FE4F43}"/>
                  </a:ext>
                </a:extLst>
              </p14:cNvPr>
              <p14:cNvContentPartPr/>
              <p14:nvPr/>
            </p14:nvContentPartPr>
            <p14:xfrm>
              <a:off x="6070721" y="5430067"/>
              <a:ext cx="597240" cy="510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D4A63C-C0A9-991C-56AA-BFF0A6FE4F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17081" y="5322067"/>
                <a:ext cx="704880" cy="72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9730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49E800-A5C8-49A0-A453-ED537DA31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BA67DD7-B75D-4A30-90A4-EEA9F64A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8194" y="0"/>
            <a:ext cx="6164729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FF722EC2-1AD1-88B8-9FC7-937686E1430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6065" y="233918"/>
            <a:ext cx="7662531" cy="6195236"/>
          </a:xfrm>
          <a:prstGeom prst="rect">
            <a:avLst/>
          </a:prstGeom>
          <a:noFill/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8C5FC48-0A3C-4D6D-A0D5-EEE93213D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BBC336D-7E16-4EE1-90F2-8D9F2B618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0199BE21-2D26-4357-8702-909F3621A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31862C2-8557-B7C5-280F-AF6F7EA52E48}"/>
              </a:ext>
            </a:extLst>
          </p:cNvPr>
          <p:cNvSpPr txBox="1"/>
          <p:nvPr/>
        </p:nvSpPr>
        <p:spPr>
          <a:xfrm>
            <a:off x="7785045" y="2248161"/>
            <a:ext cx="3798432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Although adventure have a middle number of game produced, but its sale is one of the lowest.</a:t>
            </a:r>
          </a:p>
          <a:p>
            <a:endParaRPr lang="en-US" sz="2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Although the production volume of shooting games is medium, their sales volume is higher than that of games with the same production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494FDE-43C0-68D3-C240-C143C760581E}"/>
                  </a:ext>
                </a:extLst>
              </p14:cNvPr>
              <p14:cNvContentPartPr/>
              <p14:nvPr/>
            </p14:nvContentPartPr>
            <p14:xfrm>
              <a:off x="3657281" y="5419627"/>
              <a:ext cx="688680" cy="459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494FDE-43C0-68D3-C240-C143C76058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3281" y="5311627"/>
                <a:ext cx="796320" cy="67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F29990-CC65-7EC2-10C6-8637C40C5695}"/>
                  </a:ext>
                </a:extLst>
              </p14:cNvPr>
              <p14:cNvContentPartPr/>
              <p14:nvPr/>
            </p14:nvContentPartPr>
            <p14:xfrm>
              <a:off x="3265601" y="5332507"/>
              <a:ext cx="667800" cy="408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9F29990-CC65-7EC2-10C6-8637C40C56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11601" y="5224507"/>
                <a:ext cx="775440" cy="62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7846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">
            <a:extLst>
              <a:ext uri="{FF2B5EF4-FFF2-40B4-BE49-F238E27FC236}">
                <a16:creationId xmlns:a16="http://schemas.microsoft.com/office/drawing/2014/main" id="{D5C52C22-120C-F5A4-5F1A-EF6A8785A09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47008" y="482538"/>
            <a:ext cx="7062715" cy="6042015"/>
          </a:xfrm>
          <a:prstGeom prst="rect">
            <a:avLst/>
          </a:prstGeom>
          <a:noFill/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288B46-4394-AE9E-DA56-786B35E9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521" y="1282874"/>
            <a:ext cx="5692953" cy="1431962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Trends of popular game genre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9AAADF-2171-F846-9704-688C35430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779" y="4304221"/>
            <a:ext cx="4728549" cy="265111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The action game is an evergreen category</a:t>
            </a:r>
          </a:p>
          <a:p>
            <a:r>
              <a:rPr lang="en-US" dirty="0">
                <a:solidFill>
                  <a:schemeClr val="tx2"/>
                </a:solidFill>
              </a:rPr>
              <a:t>The second popular genre trend: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2005-2010: Misc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2010-2015: Shooting</a:t>
            </a:r>
          </a:p>
          <a:p>
            <a:pPr lvl="1"/>
            <a:endParaRPr lang="en-US" sz="14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505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41EB9CF-6D95-BE96-68FE-0AF4ECD4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Among the top 500 games, the market share of games released by each publisher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AC22FF-69A2-4A04-5976-DBA7AF167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Nintendo and Electronic Arts occupies one third of the total number of games.</a:t>
            </a:r>
          </a:p>
          <a:p>
            <a:r>
              <a:rPr lang="en-US" sz="2600" dirty="0">
                <a:solidFill>
                  <a:srgbClr val="FFFFFF"/>
                </a:solidFill>
              </a:rPr>
              <a:t>Except Ubisoft (France), all companies are coming from Japan and USA, showing that Japan and the United States have a leading advantage in the gaming field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46CBCE76-DA9C-1C53-FA07-D2E552549BA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309189" y="545805"/>
            <a:ext cx="6811927" cy="61314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35709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3" name="Rectangle 202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9" name="Picture 198" descr="Dice and pins on a board game">
            <a:extLst>
              <a:ext uri="{FF2B5EF4-FFF2-40B4-BE49-F238E27FC236}">
                <a16:creationId xmlns:a16="http://schemas.microsoft.com/office/drawing/2014/main" id="{F447CC91-10B3-D79A-C86B-0B447B49FA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414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079C69-7DB6-9F86-0054-8D2C031B1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676" y="1936037"/>
            <a:ext cx="10515600" cy="2985923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Let’s dive deeper into game sales by publisher in each region</a:t>
            </a:r>
          </a:p>
        </p:txBody>
      </p:sp>
    </p:spTree>
    <p:extLst>
      <p:ext uri="{BB962C8B-B14F-4D97-AF65-F5344CB8AC3E}">
        <p14:creationId xmlns:p14="http://schemas.microsoft.com/office/powerpoint/2010/main" val="172665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4BA94-03DA-0D9D-A400-484ED3E6F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Japan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C9A97E-F656-594A-CBF6-2FB1BCAE5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6710" y="426640"/>
            <a:ext cx="7074409" cy="1937448"/>
          </a:xfrm>
        </p:spPr>
        <p:txBody>
          <a:bodyPr anchor="ctr">
            <a:noAutofit/>
          </a:bodyPr>
          <a:lstStyle/>
          <a:p>
            <a:r>
              <a:rPr lang="en-US" sz="2300" dirty="0">
                <a:solidFill>
                  <a:srgbClr val="FFFFFF"/>
                </a:solidFill>
              </a:rPr>
              <a:t>Games published by local Japanese game publishers are more popular in Japan</a:t>
            </a:r>
          </a:p>
          <a:p>
            <a:r>
              <a:rPr lang="en-US" sz="2300" dirty="0">
                <a:solidFill>
                  <a:srgbClr val="FFFFFF"/>
                </a:solidFill>
              </a:rPr>
              <a:t>Nintendo's market share here is much higher than in other markets, indicating that the company's main focus may be the local market.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3546EC-E8B5-42BA-DF2D-9DE443597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852" y="2971800"/>
            <a:ext cx="9044104" cy="327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43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C90A199-6F08-4658-B835-27722E9B9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FC9E5C3-B8DC-4532-8C1F-4D5331C6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863975" y="-12"/>
            <a:ext cx="8328026" cy="685799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1FE85-D75A-EA9B-B09C-59D30451E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5588" y="977937"/>
            <a:ext cx="5256213" cy="539750"/>
          </a:xfrm>
        </p:spPr>
        <p:txBody>
          <a:bodyPr anchor="t">
            <a:normAutofit/>
          </a:bodyPr>
          <a:lstStyle/>
          <a:p>
            <a:r>
              <a:rPr lang="en-US" sz="3000" dirty="0"/>
              <a:t>North America and Europe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84712C-EE08-D89B-B134-DD10FC6FD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9" y="3621249"/>
            <a:ext cx="6877120" cy="2613307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1E3507-2A22-E44F-0297-AD880DF15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5" y="623444"/>
            <a:ext cx="6840228" cy="2530882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graphicFrame>
        <p:nvGraphicFramePr>
          <p:cNvPr id="22" name="Content Placeholder 10">
            <a:extLst>
              <a:ext uri="{FF2B5EF4-FFF2-40B4-BE49-F238E27FC236}">
                <a16:creationId xmlns:a16="http://schemas.microsoft.com/office/drawing/2014/main" id="{3D00C917-1E46-FD4B-54FE-17F3173B0C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077456"/>
              </p:ext>
            </p:extLst>
          </p:nvPr>
        </p:nvGraphicFramePr>
        <p:xfrm>
          <a:off x="6961098" y="2049443"/>
          <a:ext cx="5008604" cy="42767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03D9ED0-D43C-A0C4-1B99-8BDAD1A8FF67}"/>
              </a:ext>
            </a:extLst>
          </p:cNvPr>
          <p:cNvSpPr txBox="1"/>
          <p:nvPr/>
        </p:nvSpPr>
        <p:spPr>
          <a:xfrm>
            <a:off x="1219199" y="167595"/>
            <a:ext cx="3841898" cy="368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North America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AAFB25-BDEB-FBEA-DB5B-A04D05BC2CBE}"/>
              </a:ext>
            </a:extLst>
          </p:cNvPr>
          <p:cNvSpPr txBox="1"/>
          <p:nvPr/>
        </p:nvSpPr>
        <p:spPr>
          <a:xfrm>
            <a:off x="1281759" y="3193177"/>
            <a:ext cx="3841898" cy="368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Europe</a:t>
            </a:r>
          </a:p>
        </p:txBody>
      </p:sp>
    </p:spTree>
    <p:extLst>
      <p:ext uri="{BB962C8B-B14F-4D97-AF65-F5344CB8AC3E}">
        <p14:creationId xmlns:p14="http://schemas.microsoft.com/office/powerpoint/2010/main" val="1529354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04D6C-C65B-BB0A-39B9-1968C5A5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2300"/>
              <a:t>Correlation between game sales of North American and European sales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09FD8DD-541E-0165-098A-26941DEE1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A high correlation shows between two market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2F7135-6250-94A1-BA9A-02949B924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77" y="2290936"/>
            <a:ext cx="10351253" cy="39593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76D1A2-68E5-6EC8-AFC5-1F2A80B3FE4A}"/>
              </a:ext>
            </a:extLst>
          </p:cNvPr>
          <p:cNvSpPr txBox="1"/>
          <p:nvPr/>
        </p:nvSpPr>
        <p:spPr>
          <a:xfrm>
            <a:off x="6737684" y="4515293"/>
            <a:ext cx="46745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Japan market game sales only shows a correlation of 0.451 between North America market, showing that there is indeed some close connection between Europe and the United States.</a:t>
            </a:r>
          </a:p>
        </p:txBody>
      </p:sp>
    </p:spTree>
    <p:extLst>
      <p:ext uri="{BB962C8B-B14F-4D97-AF65-F5344CB8AC3E}">
        <p14:creationId xmlns:p14="http://schemas.microsoft.com/office/powerpoint/2010/main" val="1578601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5DD91-7DEF-DCCE-52E8-83F0518C5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400"/>
              <a:t>Predicting the probability of game success using Bayes'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4F635-0182-6B11-77ED-9256A3A4B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56565"/>
            <a:ext cx="4646905" cy="3613149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600" dirty="0"/>
              <a:t>Assume a success game will have a global sales higher than 1 million</a:t>
            </a:r>
          </a:p>
          <a:p>
            <a:r>
              <a:rPr lang="en-US" sz="2600" dirty="0"/>
              <a:t>Comparing the success rate of Action (Highest sales) and Strategy (Lowest sales) games</a:t>
            </a:r>
          </a:p>
          <a:p>
            <a:r>
              <a:rPr lang="en-US" sz="2600" dirty="0"/>
              <a:t>The action genre success rate is 2% without indication other factor and the strategy genre success rate is only 0.6%</a:t>
            </a:r>
          </a:p>
          <a:p>
            <a:r>
              <a:rPr lang="en-US" sz="2600" dirty="0"/>
              <a:t>The differences of two genre is 2.978 times. </a:t>
            </a:r>
          </a:p>
          <a:p>
            <a:endParaRPr lang="en-US" sz="2000" dirty="0"/>
          </a:p>
        </p:txBody>
      </p:sp>
      <p:pic>
        <p:nvPicPr>
          <p:cNvPr id="5" name="Picture 4" descr="A purple pawn and a rolling dice">
            <a:extLst>
              <a:ext uri="{FF2B5EF4-FFF2-40B4-BE49-F238E27FC236}">
                <a16:creationId xmlns:a16="http://schemas.microsoft.com/office/drawing/2014/main" id="{F4C272C5-C80B-44BA-4914-B097CC0903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50" r="19750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80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F47DB381-3455-77E3-6C21-555BACAD5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000" dirty="0"/>
              <a:t>Calculation method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77853BD-1209-C93B-2D22-21CB2B303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402" y="310445"/>
            <a:ext cx="8352420" cy="647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9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C7FD-66D8-24AB-BA4F-A8FEEC4B4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  <a:endParaRPr lang="en-US" dirty="0"/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34C172D2-E215-9D96-1D70-F2C7494A8F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3516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105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34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97755-B707-5F71-9798-B1449669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1030" name="Picture 6" descr="Most Anticipated Games of 2023 &amp; 2024 | ExpressVPN Blog">
            <a:extLst>
              <a:ext uri="{FF2B5EF4-FFF2-40B4-BE49-F238E27FC236}">
                <a16:creationId xmlns:a16="http://schemas.microsoft.com/office/drawing/2014/main" id="{1C5F1B52-BFAB-88B0-D7D7-4AFA1EBEBC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055200"/>
            <a:ext cx="7188199" cy="4744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364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630</Words>
  <Application>Microsoft Office PowerPoint</Application>
  <PresentationFormat>Widescreen</PresentationFormat>
  <Paragraphs>65</Paragraphs>
  <Slides>17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COMP 2501 Project Presentation</vt:lpstr>
      <vt:lpstr>Global video game sales trends: Evolution of platforms, regions and categories</vt:lpstr>
      <vt:lpstr>What are the trends of popular game platforms</vt:lpstr>
      <vt:lpstr>Market share of gaming platform in different regions</vt:lpstr>
      <vt:lpstr>Game market trends by region</vt:lpstr>
      <vt:lpstr>Total sales of each game genre</vt:lpstr>
      <vt:lpstr>PowerPoint Presentation</vt:lpstr>
      <vt:lpstr>Trends of popular game genre</vt:lpstr>
      <vt:lpstr>Among the top 500 games, the market share of games released by each publisher</vt:lpstr>
      <vt:lpstr>Let’s dive deeper into game sales by publisher in each region</vt:lpstr>
      <vt:lpstr>Japan</vt:lpstr>
      <vt:lpstr>North America and Europe</vt:lpstr>
      <vt:lpstr>Correlation between game sales of North American and European sales</vt:lpstr>
      <vt:lpstr>Predicting the probability of game success using Bayes' theorem</vt:lpstr>
      <vt:lpstr>PowerPoint Presentation</vt:lpstr>
      <vt:lpstr>Limitations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 Hoe</dc:creator>
  <cp:lastModifiedBy>Young Hoe</cp:lastModifiedBy>
  <cp:revision>13</cp:revision>
  <dcterms:created xsi:type="dcterms:W3CDTF">2025-04-14T06:29:14Z</dcterms:created>
  <dcterms:modified xsi:type="dcterms:W3CDTF">2026-09-26T13:51:15Z</dcterms:modified>
</cp:coreProperties>
</file>